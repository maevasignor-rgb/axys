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rrousel" id="{1c294989-f15a-f045-58b6-7d1b6f887b01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d'accroche : le titre du webinar, la question d'ouverture et la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Constat porté par Axys. Ne pas citer de chiffre de volume de questionnaires (non sourcé).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Formulation ISSA 5000 issue du brief ; à revérifier sur la source avant diffusion. Ne pas écrire « s'impose en France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Remplacer : lien du bouton « Je m'inscris », photo et fonction de l'intervenant Decarbo'Solution, logo Decarbo'Solution.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UVERTUR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U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FINAL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UVER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xys/webinaire-decarbo/sources/logo_ax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585" y="914400"/>
            <a:ext cx="1820917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2648" y="3108960"/>
            <a:ext cx="633679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50" b="1" spc="2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r>
              <a:rPr lang="en-US" sz="1150" b="1" spc="200" kern="0" dirty="0">
                <a:solidFill>
                  <a:schemeClr val="accent5"/>
                </a:solidFill>
              </a:rPr>
              <a:t>SURTITRE</a:t>
            </a:r>
            <a:endParaRPr lang="en-US" sz="115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12648" y="3429000"/>
            <a:ext cx="6336792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TITRE-MESSAGE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" y="10149840"/>
            <a:ext cx="2514600" cy="0"/>
          </a:xfrm>
          <a:prstGeom prst="line">
            <a:avLst/>
          </a:prstGeom>
          <a:noFill/>
          <a:ln w="9525">
            <a:solidFill>
              <a:schemeClr val="bg1">
                <a:alpha val="55000"/>
              </a:schemeClr>
            </a:solidFill>
            <a:prstDash val="solid"/>
          </a:ln>
        </p:spPr>
      </p:sp>
      <p:pic>
        <p:nvPicPr>
          <p:cNvPr id="3" name="Image 0" descr="/home/user/Axys/webinaire-decarbo/sources/logo_ax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396" y="10026396"/>
            <a:ext cx="983295" cy="246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31920" y="10149840"/>
            <a:ext cx="2514600" cy="0"/>
          </a:xfrm>
          <a:prstGeom prst="line">
            <a:avLst/>
          </a:prstGeom>
          <a:noFill/>
          <a:ln w="9525">
            <a:solidFill>
              <a:schemeClr val="bg1">
                <a:alpha val="55000"/>
              </a:schemeClr>
            </a:solidFill>
            <a:prstDash val="solid"/>
          </a:ln>
        </p:spPr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612648" y="914400"/>
            <a:ext cx="633679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50" b="1" spc="2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r>
              <a:rPr lang="en-US" sz="1150" b="1" spc="200" kern="0" dirty="0">
                <a:solidFill>
                  <a:schemeClr val="accent5"/>
                </a:solidFill>
              </a:rPr>
              <a:t>SURTITRE</a:t>
            </a:r>
            <a:endParaRPr lang="en-US" sz="115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612648" y="1234440"/>
            <a:ext cx="633679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1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chemeClr val="bg1"/>
                </a:solidFill>
              </a:rPr>
              <a:t>TITRE-MESSAGE</a:t>
            </a:r>
            <a:endParaRPr lang="en-US" sz="3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30968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xys/webinaire-decarbo/sources/logo_ax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9930384"/>
            <a:ext cx="1238224" cy="31089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2648" y="914400"/>
            <a:ext cx="633679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50" b="1" spc="2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r>
              <a:rPr lang="en-US" sz="1150" b="1" spc="200" kern="0" dirty="0">
                <a:solidFill>
                  <a:schemeClr val="accent5"/>
                </a:solidFill>
              </a:rPr>
              <a:t>SURTITRE</a:t>
            </a:r>
            <a:endParaRPr lang="en-US" sz="115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12648" y="1234440"/>
            <a:ext cx="633679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1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chemeClr val="bg1"/>
                </a:solidFill>
              </a:rPr>
              <a:t>TITRE-MESSAGE</a:t>
            </a:r>
            <a:endParaRPr lang="en-US" sz="3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30968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12648" y="310896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chemeClr val="accent5"/>
                </a:solidFill>
              </a:rPr>
              <a:t>WEBINAR · AXYS × DECARBO'SOLUTION</a:t>
            </a:r>
            <a:endParaRPr lang="en-US" sz="115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12648" y="3429000"/>
            <a:ext cx="63367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500" b="1" dirty="0">
                <a:solidFill>
                  <a:schemeClr val="accent5"/>
                </a:solidFill>
              </a:rPr>
              <a:t>DONNÉES FOURNISSEURS</a:t>
            </a:r>
            <a:endParaRPr lang="en-US" sz="4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COLLECTEZ MOINS,</a:t>
            </a:r>
            <a:endParaRPr lang="en-US" sz="4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bg1"/>
                </a:solidFill>
              </a:rPr>
              <a:t>EXPLOITEZ MIEUX</a:t>
            </a:r>
            <a:endParaRPr lang="en-US" sz="4000" dirty="0"/>
          </a:p>
        </p:txBody>
      </p:sp>
      <p:sp>
        <p:nvSpPr>
          <p:cNvPr id="4" name="Accroche"/>
          <p:cNvSpPr txBox="1"/>
          <p:nvPr/>
        </p:nvSpPr>
        <p:spPr>
          <a:xfrm>
            <a:off x="612648" y="5715000"/>
            <a:ext cx="63367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Combien de questionnaires durabilité envoyez-vous à vos fournisseurs chaque année ?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Et combien de réponses sauriez-vous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prouver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 ?</a:t>
            </a:r>
            <a:endParaRPr lang="en-US" sz="1600" dirty="0"/>
          </a:p>
        </p:txBody>
      </p:sp>
      <p:sp>
        <p:nvSpPr>
          <p:cNvPr id="5" name="Date"/>
          <p:cNvSpPr/>
          <p:nvPr/>
        </p:nvSpPr>
        <p:spPr>
          <a:xfrm>
            <a:off x="612648" y="7178040"/>
            <a:ext cx="448056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Mardi 24 novembre 2026 · 11h · en ligne</a:t>
            </a:r>
            <a:endParaRPr lang="en-US" sz="1600" dirty="0"/>
          </a:p>
        </p:txBody>
      </p:sp>
      <p:sp>
        <p:nvSpPr>
          <p:cNvPr id="6" name="Format"/>
          <p:cNvSpPr txBox="1"/>
          <p:nvPr/>
        </p:nvSpPr>
        <p:spPr>
          <a:xfrm>
            <a:off x="612648" y="7955280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bg1"/>
                </a:solidFill>
              </a:rPr>
              <a:t>45 min d'échange + 15 min de questions</a:t>
            </a:r>
            <a:endParaRPr lang="en-US" sz="1350" dirty="0"/>
          </a:p>
        </p:txBody>
      </p:sp>
      <p:sp>
        <p:nvSpPr>
          <p:cNvPr id="7" name="Chevrons"/>
          <p:cNvSpPr txBox="1"/>
          <p:nvPr/>
        </p:nvSpPr>
        <p:spPr>
          <a:xfrm>
            <a:off x="6217920" y="9921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›››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612648" y="91440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chemeClr val="accent5"/>
                </a:solidFill>
              </a:rPr>
              <a:t>LE CONSTAT</a:t>
            </a:r>
            <a:endParaRPr lang="en-US" sz="11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612648" y="1234440"/>
            <a:ext cx="6336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chemeClr val="bg1"/>
                </a:solidFill>
              </a:rPr>
              <a:t>VOS DONNÉES FOURNISSEURS EXISTENT. SONT-ELLES UTILISABLES ?</a:t>
            </a:r>
            <a:endParaRPr lang="en-US" sz="3100" dirty="0"/>
          </a:p>
        </p:txBody>
      </p:sp>
      <p:sp>
        <p:nvSpPr>
          <p:cNvPr id="4" name="Numéro 1"/>
          <p:cNvSpPr/>
          <p:nvPr/>
        </p:nvSpPr>
        <p:spPr>
          <a:xfrm>
            <a:off x="612648" y="3282696"/>
            <a:ext cx="749808" cy="749808"/>
          </a:xfrm>
          <a:prstGeom prst="ellipse">
            <a:avLst/>
          </a:prstGeom>
          <a:solidFill>
            <a:schemeClr val="bg1">
              <a:alpha val="2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Constat 1"/>
          <p:cNvSpPr/>
          <p:nvPr/>
        </p:nvSpPr>
        <p:spPr>
          <a:xfrm>
            <a:off x="1572768" y="3063240"/>
            <a:ext cx="5376672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2000"/>
            </a:schemeClr>
          </a:solidFill>
          <a:ln/>
        </p:spPr>
        <p:txBody>
          <a:bodyPr wrap="square" lIns="203200" tIns="152400" rIns="152400" bIns="152400" rtlCol="0" anchor="ctr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DISPERSÉES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Outil achats, fichiers Excel, mails, plateformes, équipe RSE : la même information vit à plusieurs endroits.</a:t>
            </a:r>
            <a:endParaRPr lang="en-US" sz="1400" dirty="0"/>
          </a:p>
        </p:txBody>
      </p:sp>
      <p:sp>
        <p:nvSpPr>
          <p:cNvPr id="6" name="Numéro 2"/>
          <p:cNvSpPr/>
          <p:nvPr/>
        </p:nvSpPr>
        <p:spPr>
          <a:xfrm>
            <a:off x="612648" y="4654296"/>
            <a:ext cx="749808" cy="749808"/>
          </a:xfrm>
          <a:prstGeom prst="ellipse">
            <a:avLst/>
          </a:prstGeom>
          <a:solidFill>
            <a:schemeClr val="bg1">
              <a:alpha val="2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7" name="Constat 2"/>
          <p:cNvSpPr/>
          <p:nvPr/>
        </p:nvSpPr>
        <p:spPr>
          <a:xfrm>
            <a:off x="1572768" y="4434840"/>
            <a:ext cx="5376672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2000"/>
            </a:schemeClr>
          </a:solidFill>
          <a:ln/>
        </p:spPr>
        <p:txBody>
          <a:bodyPr wrap="square" lIns="203200" tIns="152400" rIns="152400" bIns="152400" rtlCol="0" anchor="ctr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HÉTÉROGÈNES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Chaque questionnaire a son format et son niveau de détail. Les réponses ne se comparent pas.</a:t>
            </a:r>
            <a:endParaRPr lang="en-US" sz="1400" dirty="0"/>
          </a:p>
        </p:txBody>
      </p:sp>
      <p:sp>
        <p:nvSpPr>
          <p:cNvPr id="8" name="Numéro 3"/>
          <p:cNvSpPr/>
          <p:nvPr/>
        </p:nvSpPr>
        <p:spPr>
          <a:xfrm>
            <a:off x="612648" y="6025896"/>
            <a:ext cx="749808" cy="749808"/>
          </a:xfrm>
          <a:prstGeom prst="ellipse">
            <a:avLst/>
          </a:prstGeom>
          <a:solidFill>
            <a:schemeClr val="bg1">
              <a:alpha val="2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9" name="Constat 3"/>
          <p:cNvSpPr/>
          <p:nvPr/>
        </p:nvSpPr>
        <p:spPr>
          <a:xfrm>
            <a:off x="1572768" y="5806440"/>
            <a:ext cx="5376672" cy="1188720"/>
          </a:xfrm>
          <a:prstGeom prst="roundRect">
            <a:avLst>
              <a:gd name="adj" fmla="val 9231"/>
            </a:avLst>
          </a:prstGeom>
          <a:solidFill>
            <a:schemeClr val="bg1">
              <a:alpha val="12000"/>
            </a:schemeClr>
          </a:solidFill>
          <a:ln/>
        </p:spPr>
        <p:txBody>
          <a:bodyPr wrap="square" lIns="203200" tIns="152400" rIns="152400" bIns="152400" rtlCol="0" anchor="ctr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PEU RÉUTILISABLES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Une demande, un usage. Puis on recommence, et le fournisseur aussi.</a:t>
            </a:r>
            <a:endParaRPr lang="en-US" sz="1400" dirty="0"/>
          </a:p>
        </p:txBody>
      </p:sp>
      <p:sp>
        <p:nvSpPr>
          <p:cNvPr id="10" name="Message clé"/>
          <p:cNvSpPr/>
          <p:nvPr/>
        </p:nvSpPr>
        <p:spPr>
          <a:xfrm>
            <a:off x="612648" y="7360920"/>
            <a:ext cx="6336792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  <p:txBody>
          <a:bodyPr wrap="square" lIns="228600" tIns="177800" rIns="177800" bIns="228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Le VS, nouveau format du VSME, pose un cadre commun sur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</a:rPr>
              <a:t>ce qu'il faut demander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Reste à savoir comment le prouver, puis le réutiliser.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30968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612648" y="91440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chemeClr val="accent5"/>
                </a:solidFill>
              </a:rPr>
              <a:t>L'ENJEU</a:t>
            </a:r>
            <a:endParaRPr lang="en-US" sz="115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612648" y="1234440"/>
            <a:ext cx="6336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chemeClr val="bg1"/>
                </a:solidFill>
              </a:rPr>
              <a:t>DEMAIN, UN AUDITEUR REGARDERA TROIS CHOSES</a:t>
            </a:r>
            <a:endParaRPr lang="en-US" sz="3100" dirty="0"/>
          </a:p>
        </p:txBody>
      </p:sp>
      <p:sp>
        <p:nvSpPr>
          <p:cNvPr id="4" name="Regard auditeur 1"/>
          <p:cNvSpPr/>
          <p:nvPr/>
        </p:nvSpPr>
        <p:spPr>
          <a:xfrm>
            <a:off x="612648" y="2880360"/>
            <a:ext cx="2008632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2000"/>
            </a:schemeClr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?</a:t>
            </a:r>
            <a:endParaRPr lang="en-US" sz="3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Ce que vous collectez</a:t>
            </a:r>
            <a:endParaRPr lang="en-US" sz="3400" dirty="0"/>
          </a:p>
        </p:txBody>
      </p:sp>
      <p:sp>
        <p:nvSpPr>
          <p:cNvPr id="5" name="Regard auditeur 2"/>
          <p:cNvSpPr/>
          <p:nvPr/>
        </p:nvSpPr>
        <p:spPr>
          <a:xfrm>
            <a:off x="2776728" y="2880360"/>
            <a:ext cx="2008632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2000"/>
            </a:schemeClr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?</a:t>
            </a:r>
            <a:endParaRPr lang="en-US" sz="3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Comment c'est connecté</a:t>
            </a:r>
            <a:endParaRPr lang="en-US" sz="3400" dirty="0"/>
          </a:p>
        </p:txBody>
      </p:sp>
      <p:sp>
        <p:nvSpPr>
          <p:cNvPr id="6" name="Regard auditeur 3"/>
          <p:cNvSpPr/>
          <p:nvPr/>
        </p:nvSpPr>
        <p:spPr>
          <a:xfrm>
            <a:off x="4940808" y="2880360"/>
            <a:ext cx="2008632" cy="1783080"/>
          </a:xfrm>
          <a:prstGeom prst="roundRect">
            <a:avLst>
              <a:gd name="adj" fmla="val 6154"/>
            </a:avLst>
          </a:prstGeom>
          <a:solidFill>
            <a:schemeClr val="bg1">
              <a:alpha val="12000"/>
            </a:schemeClr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5"/>
                </a:solidFill>
              </a:rPr>
              <a:t>?</a:t>
            </a:r>
            <a:endParaRPr lang="en-US" sz="3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Comment c'est contrôlé</a:t>
            </a:r>
            <a:endParaRPr lang="en-US" sz="3400" dirty="0"/>
          </a:p>
        </p:txBody>
      </p:sp>
      <p:sp>
        <p:nvSpPr>
          <p:cNvPr id="7" name="Usages titre"/>
          <p:cNvSpPr txBox="1"/>
          <p:nvPr/>
        </p:nvSpPr>
        <p:spPr>
          <a:xfrm>
            <a:off x="612648" y="5029200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Et une même donnée peut servir plusieurs usages :</a:t>
            </a:r>
            <a:endParaRPr lang="en-US" sz="1400" dirty="0"/>
          </a:p>
        </p:txBody>
      </p:sp>
      <p:sp>
        <p:nvSpPr>
          <p:cNvPr id="8" name="Usage CSRD · Scope 3"/>
          <p:cNvSpPr/>
          <p:nvPr/>
        </p:nvSpPr>
        <p:spPr>
          <a:xfrm>
            <a:off x="612648" y="5486400"/>
            <a:ext cx="1600200" cy="438912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CSRD · Scope 3</a:t>
            </a:r>
            <a:endParaRPr lang="en-US" sz="1250" dirty="0"/>
          </a:p>
        </p:txBody>
      </p:sp>
      <p:sp>
        <p:nvSpPr>
          <p:cNvPr id="9" name="Usage Audit"/>
          <p:cNvSpPr/>
          <p:nvPr/>
        </p:nvSpPr>
        <p:spPr>
          <a:xfrm>
            <a:off x="2350008" y="5486400"/>
            <a:ext cx="868680" cy="438912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Audit</a:t>
            </a:r>
            <a:endParaRPr lang="en-US" sz="1250" dirty="0"/>
          </a:p>
        </p:txBody>
      </p:sp>
      <p:sp>
        <p:nvSpPr>
          <p:cNvPr id="10" name="Usage Pilotage fournisseurs"/>
          <p:cNvSpPr/>
          <p:nvPr/>
        </p:nvSpPr>
        <p:spPr>
          <a:xfrm>
            <a:off x="3355848" y="5486400"/>
            <a:ext cx="2331720" cy="438912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Pilotage fournisseurs</a:t>
            </a:r>
            <a:endParaRPr lang="en-US" sz="1250" dirty="0"/>
          </a:p>
        </p:txBody>
      </p:sp>
      <p:sp>
        <p:nvSpPr>
          <p:cNvPr id="11" name="Usage Coût carbone · ETS, CBAM"/>
          <p:cNvSpPr/>
          <p:nvPr/>
        </p:nvSpPr>
        <p:spPr>
          <a:xfrm>
            <a:off x="612648" y="6053328"/>
            <a:ext cx="2697480" cy="438912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Coût carbone · ETS, CBAM</a:t>
            </a:r>
            <a:endParaRPr lang="en-US" sz="1250" dirty="0"/>
          </a:p>
        </p:txBody>
      </p:sp>
      <p:sp>
        <p:nvSpPr>
          <p:cNvPr id="12" name="Usage Appels d&amp;apos;offres"/>
          <p:cNvSpPr/>
          <p:nvPr/>
        </p:nvSpPr>
        <p:spPr>
          <a:xfrm>
            <a:off x="3447288" y="6053328"/>
            <a:ext cx="1691640" cy="438912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 w="15875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Appels d'offres</a:t>
            </a:r>
            <a:endParaRPr lang="en-US" sz="1250" dirty="0"/>
          </a:p>
        </p:txBody>
      </p:sp>
      <p:sp>
        <p:nvSpPr>
          <p:cNvPr id="13" name="Repère ISSA 5000"/>
          <p:cNvSpPr/>
          <p:nvPr/>
        </p:nvSpPr>
        <p:spPr>
          <a:xfrm>
            <a:off x="612648" y="6903720"/>
            <a:ext cx="6336792" cy="1234440"/>
          </a:xfrm>
          <a:prstGeom prst="roundRect">
            <a:avLst>
              <a:gd name="adj" fmla="val 8889"/>
            </a:avLst>
          </a:prstGeom>
          <a:solidFill>
            <a:schemeClr val="tx2">
              <a:alpha val="60000"/>
            </a:schemeClr>
          </a:solidFill>
          <a:ln/>
        </p:spPr>
        <p:txBody>
          <a:bodyPr wrap="square" lIns="228600" tIns="152400" rIns="152400" bIns="2286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bg1"/>
                </a:solidFill>
              </a:rPr>
              <a:t>Repère 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l'ISSA 5000 devient la référence internationale de l'assurance durabilité en décembre 2026 (périodes ouvertes à partir du 15 décembre). Ce que l'auditeur attendra de vos données se précise.</a:t>
            </a:r>
            <a:endParaRPr lang="en-US" sz="1300" dirty="0"/>
          </a:p>
        </p:txBody>
      </p:sp>
      <p:sp>
        <p:nvSpPr>
          <p:cNvPr id="14" name="Source"/>
          <p:cNvSpPr txBox="1"/>
          <p:nvPr/>
        </p:nvSpPr>
        <p:spPr>
          <a:xfrm>
            <a:off x="612648" y="9555480"/>
            <a:ext cx="6336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Source : IAASB, ISSA 5000, date d'application (synthèse ICAEW).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537960" y="10030968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12648" y="91440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chemeClr val="accent5"/>
                </a:solidFill>
              </a:rPr>
              <a:t>LE 24 NOVEMBRE À 11H</a:t>
            </a:r>
            <a:endParaRPr lang="en-US" sz="115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12648" y="1234440"/>
            <a:ext cx="6336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chemeClr val="bg1"/>
                </a:solidFill>
              </a:rPr>
              <a:t>TROIS QUESTIONS,</a:t>
            </a:r>
            <a:endParaRPr lang="en-US" sz="31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100" b="1" dirty="0">
                <a:solidFill>
                  <a:schemeClr val="bg1"/>
                </a:solidFill>
              </a:rPr>
              <a:t>DEUX VOIX, UNE HEURE</a:t>
            </a:r>
            <a:endParaRPr lang="en-US" sz="3100" dirty="0"/>
          </a:p>
        </p:txBody>
      </p:sp>
      <p:sp>
        <p:nvSpPr>
          <p:cNvPr id="4" name="Question 1 numéro"/>
          <p:cNvSpPr/>
          <p:nvPr/>
        </p:nvSpPr>
        <p:spPr>
          <a:xfrm>
            <a:off x="612648" y="2697480"/>
            <a:ext cx="777240" cy="749808"/>
          </a:xfrm>
          <a:prstGeom prst="roundRect">
            <a:avLst>
              <a:gd name="adj" fmla="val 14634"/>
            </a:avLst>
          </a:prstGeom>
          <a:solidFill>
            <a:schemeClr val="bg1">
              <a:alpha val="2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01</a:t>
            </a:r>
            <a:endParaRPr lang="en-US" sz="2200" dirty="0"/>
          </a:p>
        </p:txBody>
      </p:sp>
      <p:sp>
        <p:nvSpPr>
          <p:cNvPr id="5" name="Question 1"/>
          <p:cNvSpPr/>
          <p:nvPr/>
        </p:nvSpPr>
        <p:spPr>
          <a:xfrm>
            <a:off x="1527048" y="2697480"/>
            <a:ext cx="5422392" cy="749808"/>
          </a:xfrm>
          <a:prstGeom prst="roundRect">
            <a:avLst>
              <a:gd name="adj" fmla="val 14634"/>
            </a:avLst>
          </a:prstGeom>
          <a:solidFill>
            <a:schemeClr val="bg1">
              <a:alpha val="12000"/>
            </a:schemeClr>
          </a:solidFill>
          <a:ln/>
        </p:spPr>
        <p:txBody>
          <a:bodyPr wrap="square" lIns="203200" tIns="101600" rIns="101600" bIns="15240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Pourquoi une donnée calculée ne suffit plus</a:t>
            </a:r>
            <a:endParaRPr lang="en-US" sz="1450" dirty="0"/>
          </a:p>
        </p:txBody>
      </p:sp>
      <p:sp>
        <p:nvSpPr>
          <p:cNvPr id="6" name="Question 2 numéro"/>
          <p:cNvSpPr/>
          <p:nvPr/>
        </p:nvSpPr>
        <p:spPr>
          <a:xfrm>
            <a:off x="612648" y="3593592"/>
            <a:ext cx="777240" cy="749808"/>
          </a:xfrm>
          <a:prstGeom prst="roundRect">
            <a:avLst>
              <a:gd name="adj" fmla="val 14634"/>
            </a:avLst>
          </a:prstGeom>
          <a:solidFill>
            <a:schemeClr val="bg1">
              <a:alpha val="2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02</a:t>
            </a:r>
            <a:endParaRPr lang="en-US" sz="2200" dirty="0"/>
          </a:p>
        </p:txBody>
      </p:sp>
      <p:sp>
        <p:nvSpPr>
          <p:cNvPr id="7" name="Question 2"/>
          <p:cNvSpPr/>
          <p:nvPr/>
        </p:nvSpPr>
        <p:spPr>
          <a:xfrm>
            <a:off x="1527048" y="3593592"/>
            <a:ext cx="5422392" cy="749808"/>
          </a:xfrm>
          <a:prstGeom prst="roundRect">
            <a:avLst>
              <a:gd name="adj" fmla="val 14634"/>
            </a:avLst>
          </a:prstGeom>
          <a:solidFill>
            <a:schemeClr val="bg1">
              <a:alpha val="12000"/>
            </a:schemeClr>
          </a:solidFill>
          <a:ln/>
        </p:spPr>
        <p:txBody>
          <a:bodyPr wrap="square" lIns="203200" tIns="101600" rIns="101600" bIns="15240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Ce qui rend une donnée carbone authentifiée, tracée, reproductible</a:t>
            </a:r>
            <a:endParaRPr lang="en-US" sz="1450" dirty="0"/>
          </a:p>
        </p:txBody>
      </p:sp>
      <p:sp>
        <p:nvSpPr>
          <p:cNvPr id="8" name="Question 3 numéro"/>
          <p:cNvSpPr/>
          <p:nvPr/>
        </p:nvSpPr>
        <p:spPr>
          <a:xfrm>
            <a:off x="612648" y="4489704"/>
            <a:ext cx="777240" cy="749808"/>
          </a:xfrm>
          <a:prstGeom prst="roundRect">
            <a:avLst>
              <a:gd name="adj" fmla="val 14634"/>
            </a:avLst>
          </a:prstGeom>
          <a:solidFill>
            <a:schemeClr val="bg1">
              <a:alpha val="2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03</a:t>
            </a:r>
            <a:endParaRPr lang="en-US" sz="2200" dirty="0"/>
          </a:p>
        </p:txBody>
      </p:sp>
      <p:sp>
        <p:nvSpPr>
          <p:cNvPr id="9" name="Question 3"/>
          <p:cNvSpPr/>
          <p:nvPr/>
        </p:nvSpPr>
        <p:spPr>
          <a:xfrm>
            <a:off x="1527048" y="4489704"/>
            <a:ext cx="5422392" cy="749808"/>
          </a:xfrm>
          <a:prstGeom prst="roundRect">
            <a:avLst>
              <a:gd name="adj" fmla="val 14634"/>
            </a:avLst>
          </a:prstGeom>
          <a:solidFill>
            <a:schemeClr val="bg1">
              <a:alpha val="12000"/>
            </a:schemeClr>
          </a:solidFill>
          <a:ln/>
        </p:spPr>
        <p:txBody>
          <a:bodyPr wrap="square" lIns="203200" tIns="101600" rIns="101600" bIns="15240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Comment la réutiliser dans vos outils achats</a:t>
            </a:r>
            <a:endParaRPr lang="en-US" sz="1450" dirty="0"/>
          </a:p>
        </p:txBody>
      </p:sp>
      <p:sp>
        <p:nvSpPr>
          <p:cNvPr id="10" name="Bonus"/>
          <p:cNvSpPr txBox="1"/>
          <p:nvPr/>
        </p:nvSpPr>
        <p:spPr>
          <a:xfrm>
            <a:off x="612648" y="5440680"/>
            <a:ext cx="6336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Sondage en direct · Checklist des 5 premiers pas remise aux inscrits</a:t>
            </a:r>
            <a:endParaRPr lang="en-US" sz="1200" dirty="0"/>
          </a:p>
        </p:txBody>
      </p:sp>
      <p:sp>
        <p:nvSpPr>
          <p:cNvPr id="11" name="Bouton inscription"/>
          <p:cNvSpPr/>
          <p:nvPr/>
        </p:nvSpPr>
        <p:spPr>
          <a:xfrm>
            <a:off x="612648" y="5989320"/>
            <a:ext cx="2377440" cy="566928"/>
          </a:xfrm>
          <a:prstGeom prst="roundRect">
            <a:avLst>
              <a:gd name="adj" fmla="val 48387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Je m'inscris →</a:t>
            </a:r>
            <a:endParaRPr lang="en-US" sz="1500" dirty="0"/>
          </a:p>
        </p:txBody>
      </p:sp>
      <p:pic>
        <p:nvPicPr>
          <p:cNvPr id="12" name="Photo Maëva Signor" descr="Photo de Maëva Sign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7086600"/>
            <a:ext cx="822960" cy="822960"/>
          </a:xfrm>
          <a:prstGeom prst="ellipse">
            <a:avLst/>
          </a:prstGeom>
        </p:spPr>
      </p:pic>
      <p:sp>
        <p:nvSpPr>
          <p:cNvPr id="13" name="Intervenant Axys"/>
          <p:cNvSpPr txBox="1"/>
          <p:nvPr/>
        </p:nvSpPr>
        <p:spPr>
          <a:xfrm>
            <a:off x="1572768" y="7086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Maëva Signor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Senior Manager Achats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Axys</a:t>
            </a:r>
            <a:endParaRPr lang="en-US" sz="1400" dirty="0"/>
          </a:p>
        </p:txBody>
      </p:sp>
      <p:sp>
        <p:nvSpPr>
          <p:cNvPr id="14" name="Photo Decarbo (à remplacer)"/>
          <p:cNvSpPr/>
          <p:nvPr/>
        </p:nvSpPr>
        <p:spPr>
          <a:xfrm>
            <a:off x="3840480" y="7086600"/>
            <a:ext cx="822960" cy="822960"/>
          </a:xfrm>
          <a:prstGeom prst="ellipse">
            <a:avLst/>
          </a:prstGeom>
          <a:solidFill>
            <a:schemeClr val="bg1">
              <a:alpha val="2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Photo</a:t>
            </a:r>
            <a:endParaRPr lang="en-US" sz="1000" dirty="0"/>
          </a:p>
        </p:txBody>
      </p:sp>
      <p:sp>
        <p:nvSpPr>
          <p:cNvPr id="15" name="Intervenant Decarbo"/>
          <p:cNvSpPr txBox="1"/>
          <p:nvPr/>
        </p:nvSpPr>
        <p:spPr>
          <a:xfrm>
            <a:off x="4800600" y="7086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Philippe Mangeard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[Fonction à confirmer]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Decarbo'Solution</a:t>
            </a:r>
            <a:endParaRPr lang="en-US" sz="1400" dirty="0"/>
          </a:p>
        </p:txBody>
      </p:sp>
      <p:sp>
        <p:nvSpPr>
          <p:cNvPr id="16" name="Croix co-branding"/>
          <p:cNvSpPr txBox="1"/>
          <p:nvPr/>
        </p:nvSpPr>
        <p:spPr>
          <a:xfrm>
            <a:off x="3657600" y="99029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×</a:t>
            </a:r>
            <a:endParaRPr lang="en-US" sz="1800" dirty="0"/>
          </a:p>
        </p:txBody>
      </p:sp>
      <p:sp>
        <p:nvSpPr>
          <p:cNvPr id="17" name="Logo Decarbo (à remplacer)"/>
          <p:cNvSpPr/>
          <p:nvPr/>
        </p:nvSpPr>
        <p:spPr>
          <a:xfrm>
            <a:off x="4114800" y="9875520"/>
            <a:ext cx="1828800" cy="420624"/>
          </a:xfrm>
          <a:prstGeom prst="roundRect">
            <a:avLst>
              <a:gd name="adj" fmla="val 13043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Logo Decarbo'Solution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ys">
  <a:themeElements>
    <a:clrScheme name="Axys">
      <a:dk1>
        <a:srgbClr val="404148"/>
      </a:dk1>
      <a:lt1>
        <a:srgbClr val="FFFFFF"/>
      </a:lt1>
      <a:dk2>
        <a:srgbClr val="004C5D"/>
      </a:dk2>
      <a:lt2>
        <a:srgbClr val="F2F2F2"/>
      </a:lt2>
      <a:accent1>
        <a:srgbClr val="008A8C"/>
      </a:accent1>
      <a:accent2>
        <a:srgbClr val="02AEB1"/>
      </a:accent2>
      <a:accent3>
        <a:srgbClr val="FF2148"/>
      </a:accent3>
      <a:accent4>
        <a:srgbClr val="004C5D"/>
      </a:accent4>
      <a:accent5>
        <a:srgbClr val="9CE6E7"/>
      </a:accent5>
      <a:accent6>
        <a:srgbClr val="404148"/>
      </a:accent6>
      <a:hlink>
        <a:srgbClr val="02AEB1"/>
      </a:hlink>
      <a:folHlink>
        <a:srgbClr val="008A8C"/>
      </a:folHlink>
    </a:clrScheme>
    <a:fontScheme name="Axys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Axys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Données fournisseurs : collectez moins, exploitez mieux</dc:title>
  <dc:subject>PptxGenJS Presentation</dc:subject>
  <dc:creator>Maëva Signor</dc:creator>
  <cp:lastModifiedBy>Maëva Signor</cp:lastModifiedBy>
  <cp:revision>1</cp:revision>
  <dcterms:created xsi:type="dcterms:W3CDTF">2026-10-25T15:34:28Z</dcterms:created>
  <dcterms:modified xsi:type="dcterms:W3CDTF">2026-10-25T15:34:28Z</dcterms:modified>
</cp:coreProperties>
</file>